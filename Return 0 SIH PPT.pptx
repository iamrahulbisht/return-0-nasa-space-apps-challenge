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01" r:id="rId2"/>
    <p:sldId id="281" r:id="rId3"/>
    <p:sldId id="290" r:id="rId4"/>
    <p:sldId id="298" r:id="rId5"/>
    <p:sldId id="299" r:id="rId6"/>
    <p:sldId id="300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05312-077C-4568-B85E-B16D9EB645B0}" v="33" dt="2025-10-05T10:49:28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h Naula" userId="8c23cd272d2a3009" providerId="LiveId" clId="{D589BEA9-4E34-4095-9C42-5D737FF4EFFC}"/>
    <pc:docChg chg="undo redo custSel addSld delSld modSld">
      <pc:chgData name="Piyush Naula" userId="8c23cd272d2a3009" providerId="LiveId" clId="{D589BEA9-4E34-4095-9C42-5D737FF4EFFC}" dt="2025-10-05T10:50:30.244" v="898" actId="20577"/>
      <pc:docMkLst>
        <pc:docMk/>
      </pc:docMkLst>
      <pc:sldChg chg="addSp delSp modSp mod">
        <pc:chgData name="Piyush Naula" userId="8c23cd272d2a3009" providerId="LiveId" clId="{D589BEA9-4E34-4095-9C42-5D737FF4EFFC}" dt="2025-10-05T10:50:30.244" v="898" actId="20577"/>
        <pc:sldMkLst>
          <pc:docMk/>
          <pc:sldMk cId="0" sldId="281"/>
        </pc:sldMkLst>
        <pc:spChg chg="add">
          <ac:chgData name="Piyush Naula" userId="8c23cd272d2a3009" providerId="LiveId" clId="{D589BEA9-4E34-4095-9C42-5D737FF4EFFC}" dt="2025-10-05T10:45:56.013" v="595"/>
          <ac:spMkLst>
            <pc:docMk/>
            <pc:sldMk cId="0" sldId="281"/>
            <ac:spMk id="3" creationId="{6C2F49FA-8C0B-54D7-362A-2ACE91418485}"/>
          </ac:spMkLst>
        </pc:spChg>
        <pc:spChg chg="add">
          <ac:chgData name="Piyush Naula" userId="8c23cd272d2a3009" providerId="LiveId" clId="{D589BEA9-4E34-4095-9C42-5D737FF4EFFC}" dt="2025-10-05T10:47:34.324" v="674"/>
          <ac:spMkLst>
            <pc:docMk/>
            <pc:sldMk cId="0" sldId="281"/>
            <ac:spMk id="4" creationId="{6F4D3CA7-5E58-EFD7-639D-01DA9D54F7D0}"/>
          </ac:spMkLst>
        </pc:spChg>
        <pc:spChg chg="add">
          <ac:chgData name="Piyush Naula" userId="8c23cd272d2a3009" providerId="LiveId" clId="{D589BEA9-4E34-4095-9C42-5D737FF4EFFC}" dt="2025-10-05T10:49:12.696" v="817"/>
          <ac:spMkLst>
            <pc:docMk/>
            <pc:sldMk cId="0" sldId="281"/>
            <ac:spMk id="5" creationId="{C6746BE0-122C-B6C1-29D8-2DB3E26C5C57}"/>
          </ac:spMkLst>
        </pc:spChg>
        <pc:spChg chg="add">
          <ac:chgData name="Piyush Naula" userId="8c23cd272d2a3009" providerId="LiveId" clId="{D589BEA9-4E34-4095-9C42-5D737FF4EFFC}" dt="2025-10-05T10:49:17.190" v="819"/>
          <ac:spMkLst>
            <pc:docMk/>
            <pc:sldMk cId="0" sldId="281"/>
            <ac:spMk id="6" creationId="{B92D1A5A-8C2B-8DA0-CC86-494D2F8C4425}"/>
          </ac:spMkLst>
        </pc:spChg>
        <pc:spChg chg="add">
          <ac:chgData name="Piyush Naula" userId="8c23cd272d2a3009" providerId="LiveId" clId="{D589BEA9-4E34-4095-9C42-5D737FF4EFFC}" dt="2025-10-05T10:49:27.880" v="822"/>
          <ac:spMkLst>
            <pc:docMk/>
            <pc:sldMk cId="0" sldId="281"/>
            <ac:spMk id="7" creationId="{735CCF9C-07AB-EF09-7CD7-AFD0D9516AF2}"/>
          </ac:spMkLst>
        </pc:spChg>
        <pc:spChg chg="del mod">
          <ac:chgData name="Piyush Naula" userId="8c23cd272d2a3009" providerId="LiveId" clId="{D589BEA9-4E34-4095-9C42-5D737FF4EFFC}" dt="2025-10-05T10:45:20.874" v="592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Piyush Naula" userId="8c23cd272d2a3009" providerId="LiveId" clId="{D589BEA9-4E34-4095-9C42-5D737FF4EFFC}" dt="2025-10-05T10:45:03.397" v="587" actId="1076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Piyush Naula" userId="8c23cd272d2a3009" providerId="LiveId" clId="{D589BEA9-4E34-4095-9C42-5D737FF4EFFC}" dt="2025-10-05T10:50:30.244" v="898" actId="20577"/>
          <ac:spMkLst>
            <pc:docMk/>
            <pc:sldMk cId="0" sldId="281"/>
            <ac:spMk id="15362" creationId="{00000000-0000-0000-0000-000000000000}"/>
          </ac:spMkLst>
        </pc:spChg>
        <pc:picChg chg="del">
          <ac:chgData name="Piyush Naula" userId="8c23cd272d2a3009" providerId="LiveId" clId="{D589BEA9-4E34-4095-9C42-5D737FF4EFFC}" dt="2025-10-05T10:45:24.081" v="593" actId="478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Sp del mod">
        <pc:chgData name="Piyush Naula" userId="8c23cd272d2a3009" providerId="LiveId" clId="{D589BEA9-4E34-4095-9C42-5D737FF4EFFC}" dt="2025-10-05T10:44:04.779" v="554" actId="47"/>
        <pc:sldMkLst>
          <pc:docMk/>
          <pc:sldMk cId="0" sldId="291"/>
        </pc:sldMkLst>
        <pc:spChg chg="mod">
          <ac:chgData name="Piyush Naula" userId="8c23cd272d2a3009" providerId="LiveId" clId="{D589BEA9-4E34-4095-9C42-5D737FF4EFFC}" dt="2025-10-05T08:11:17.748" v="48" actId="20577"/>
          <ac:spMkLst>
            <pc:docMk/>
            <pc:sldMk cId="0" sldId="291"/>
            <ac:spMk id="4" creationId="{00000000-0000-0000-0000-000000000000}"/>
          </ac:spMkLst>
        </pc:spChg>
        <pc:spChg chg="mod">
          <ac:chgData name="Piyush Naula" userId="8c23cd272d2a3009" providerId="LiveId" clId="{D589BEA9-4E34-4095-9C42-5D737FF4EFFC}" dt="2025-10-05T08:08:39.622" v="29" actId="20577"/>
          <ac:spMkLst>
            <pc:docMk/>
            <pc:sldMk cId="0" sldId="291"/>
            <ac:spMk id="8" creationId="{00000000-0000-0000-0000-000000000000}"/>
          </ac:spMkLst>
        </pc:spChg>
        <pc:spChg chg="mod">
          <ac:chgData name="Piyush Naula" userId="8c23cd272d2a3009" providerId="LiveId" clId="{D589BEA9-4E34-4095-9C42-5D737FF4EFFC}" dt="2025-10-05T08:22:57.029" v="306" actId="20577"/>
          <ac:spMkLst>
            <pc:docMk/>
            <pc:sldMk cId="0" sldId="291"/>
            <ac:spMk id="10" creationId="{00000000-0000-0000-0000-000000000000}"/>
          </ac:spMkLst>
        </pc:spChg>
        <pc:picChg chg="add del mod">
          <ac:chgData name="Piyush Naula" userId="8c23cd272d2a3009" providerId="LiveId" clId="{D589BEA9-4E34-4095-9C42-5D737FF4EFFC}" dt="2025-10-05T08:27:08.673" v="369" actId="21"/>
          <ac:picMkLst>
            <pc:docMk/>
            <pc:sldMk cId="0" sldId="291"/>
            <ac:picMk id="3" creationId="{368B6C0D-BF0E-03CC-E161-35F7A03B87F0}"/>
          </ac:picMkLst>
        </pc:picChg>
        <pc:picChg chg="del">
          <ac:chgData name="Piyush Naula" userId="8c23cd272d2a3009" providerId="LiveId" clId="{D589BEA9-4E34-4095-9C42-5D737FF4EFFC}" dt="2025-10-05T08:08:44.273" v="31" actId="478"/>
          <ac:picMkLst>
            <pc:docMk/>
            <pc:sldMk cId="0" sldId="291"/>
            <ac:picMk id="5" creationId="{9120848B-B2B4-45BE-A961-AEC0B06CF41B}"/>
          </ac:picMkLst>
        </pc:picChg>
        <pc:picChg chg="del">
          <ac:chgData name="Piyush Naula" userId="8c23cd272d2a3009" providerId="LiveId" clId="{D589BEA9-4E34-4095-9C42-5D737FF4EFFC}" dt="2025-10-05T08:08:42.061" v="30" actId="478"/>
          <ac:picMkLst>
            <pc:docMk/>
            <pc:sldMk cId="0" sldId="291"/>
            <ac:picMk id="1026" creationId="{00000000-0000-0000-0000-000000000000}"/>
          </ac:picMkLst>
        </pc:picChg>
      </pc:sldChg>
      <pc:sldChg chg="addSp delSp modSp new mod modClrScheme chgLayout">
        <pc:chgData name="Piyush Naula" userId="8c23cd272d2a3009" providerId="LiveId" clId="{D589BEA9-4E34-4095-9C42-5D737FF4EFFC}" dt="2025-10-05T09:23:00.405" v="553" actId="20577"/>
        <pc:sldMkLst>
          <pc:docMk/>
          <pc:sldMk cId="3816627551" sldId="301"/>
        </pc:sldMkLst>
        <pc:spChg chg="mod ord">
          <ac:chgData name="Piyush Naula" userId="8c23cd272d2a3009" providerId="LiveId" clId="{D589BEA9-4E34-4095-9C42-5D737FF4EFFC}" dt="2025-10-05T08:24:42.417" v="327" actId="700"/>
          <ac:spMkLst>
            <pc:docMk/>
            <pc:sldMk cId="3816627551" sldId="301"/>
            <ac:spMk id="2" creationId="{C0C1351C-8566-A217-222D-1A8727BBE2DE}"/>
          </ac:spMkLst>
        </pc:spChg>
        <pc:spChg chg="mod ord">
          <ac:chgData name="Piyush Naula" userId="8c23cd272d2a3009" providerId="LiveId" clId="{D589BEA9-4E34-4095-9C42-5D737FF4EFFC}" dt="2025-10-05T09:23:00.405" v="553" actId="20577"/>
          <ac:spMkLst>
            <pc:docMk/>
            <pc:sldMk cId="3816627551" sldId="301"/>
            <ac:spMk id="3" creationId="{98E6309D-C53C-26FF-E87A-1F18BBF2B1FF}"/>
          </ac:spMkLst>
        </pc:spChg>
        <pc:spChg chg="del mod ord">
          <ac:chgData name="Piyush Naula" userId="8c23cd272d2a3009" providerId="LiveId" clId="{D589BEA9-4E34-4095-9C42-5D737FF4EFFC}" dt="2025-10-05T08:25:47.307" v="350" actId="478"/>
          <ac:spMkLst>
            <pc:docMk/>
            <pc:sldMk cId="3816627551" sldId="301"/>
            <ac:spMk id="4" creationId="{1456A4BA-E73F-57F4-F10F-86A3FADF78C1}"/>
          </ac:spMkLst>
        </pc:spChg>
        <pc:spChg chg="mod ord">
          <ac:chgData name="Piyush Naula" userId="8c23cd272d2a3009" providerId="LiveId" clId="{D589BEA9-4E34-4095-9C42-5D737FF4EFFC}" dt="2025-10-05T08:24:42.417" v="327" actId="700"/>
          <ac:spMkLst>
            <pc:docMk/>
            <pc:sldMk cId="3816627551" sldId="301"/>
            <ac:spMk id="5" creationId="{AD3E09AB-831A-D410-648C-861FA60E32C0}"/>
          </ac:spMkLst>
        </pc:spChg>
        <pc:spChg chg="add mod">
          <ac:chgData name="Piyush Naula" userId="8c23cd272d2a3009" providerId="LiveId" clId="{D589BEA9-4E34-4095-9C42-5D737FF4EFFC}" dt="2025-10-05T09:17:58.302" v="405" actId="1076"/>
          <ac:spMkLst>
            <pc:docMk/>
            <pc:sldMk cId="3816627551" sldId="301"/>
            <ac:spMk id="7" creationId="{CDE143C4-083D-A2DD-F642-7E55E833E03D}"/>
          </ac:spMkLst>
        </pc:spChg>
        <pc:picChg chg="add mod">
          <ac:chgData name="Piyush Naula" userId="8c23cd272d2a3009" providerId="LiveId" clId="{D589BEA9-4E34-4095-9C42-5D737FF4EFFC}" dt="2025-10-05T08:27:21.343" v="372" actId="1076"/>
          <ac:picMkLst>
            <pc:docMk/>
            <pc:sldMk cId="3816627551" sldId="301"/>
            <ac:picMk id="8" creationId="{368B6C0D-BF0E-03CC-E161-35F7A03B87F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5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jp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jnrd.org/papers/IJNRD2403021.pdf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niepid.nic.i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erability.com/" TargetMode="External"/><Relationship Id="rId5" Type="http://schemas.openxmlformats.org/officeDocument/2006/relationships/hyperlink" Target="https://www.help4special.com/" TargetMode="External"/><Relationship Id="rId4" Type="http://schemas.openxmlformats.org/officeDocument/2006/relationships/hyperlink" Target="https://www.education.gov.in/" TargetMode="External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351C-8566-A217-222D-1A8727BB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Garamond" panose="02020404030301010803" pitchFamily="18" charset="0"/>
              </a:rPr>
              <a:t>NASA SPACE APPS CHALLENGE 2025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6309D-C53C-26FF-E87A-1F18BBF2B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1302464"/>
            <a:ext cx="9026013" cy="4800596"/>
          </a:xfrm>
        </p:spPr>
        <p:txBody>
          <a:bodyPr/>
          <a:lstStyle/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400" dirty="0"/>
              <a:t>AI- Powered Exoplanet Detection and Habitability Using Open NASA Datasets</a:t>
            </a: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/>
              <a:t>Return 0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1: </a:t>
            </a:r>
            <a:r>
              <a:rPr lang="en-US" sz="2000" dirty="0"/>
              <a:t>Piyush Naula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2: </a:t>
            </a:r>
            <a:r>
              <a:rPr lang="en-US" sz="2000" dirty="0"/>
              <a:t>Piyush </a:t>
            </a:r>
            <a:r>
              <a:rPr lang="en-US" sz="2000" dirty="0" err="1"/>
              <a:t>Palariya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3: </a:t>
            </a:r>
            <a:r>
              <a:rPr lang="en-US" sz="2000" dirty="0"/>
              <a:t>Rahul Joshi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4: </a:t>
            </a:r>
            <a:r>
              <a:rPr lang="en-US" sz="2000" dirty="0"/>
              <a:t>Rahul Bisht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5: </a:t>
            </a:r>
            <a:r>
              <a:rPr lang="en-US" sz="2000" dirty="0"/>
              <a:t>Samriddhi Gururani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Member 4: </a:t>
            </a:r>
            <a:r>
              <a:rPr lang="en-US" sz="2000" dirty="0"/>
              <a:t>Mohd </a:t>
            </a:r>
            <a:r>
              <a:rPr lang="en-US" sz="2000" dirty="0" err="1"/>
              <a:t>Hifzan</a:t>
            </a:r>
            <a:endParaRPr lang="en-US" sz="2000" dirty="0"/>
          </a:p>
          <a:p>
            <a:pPr algn="just"/>
            <a:endParaRPr lang="en-US" sz="2000" dirty="0"/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E09AB-831A-D410-648C-861FA60E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143C4-083D-A2DD-F642-7E55E833E03D}"/>
              </a:ext>
            </a:extLst>
          </p:cNvPr>
          <p:cNvSpPr txBox="1"/>
          <p:nvPr/>
        </p:nvSpPr>
        <p:spPr>
          <a:xfrm>
            <a:off x="4064000" y="50874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NEBULAEXO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B6C0D-BF0E-03CC-E161-35F7A03B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996787"/>
            <a:ext cx="2657846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2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12337" y="-45945"/>
            <a:ext cx="10500910" cy="49366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NEBULAEXO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366083"/>
            <a:ext cx="5306291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num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Introduction: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Exoplanets are planets that exist outside our solar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orbit their host stars just like Earth orbits the Sun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NASA’s Kepler Mission collected large data to find such planets using light intensity variations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Manual detection of exoplanets is slow and </a:t>
            </a:r>
            <a:r>
              <a:rPr lang="en-US" sz="2000"/>
              <a:t>time consuming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64" y="1023114"/>
            <a:ext cx="6522522" cy="5834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71902" y="245319"/>
            <a:ext cx="7315200" cy="5667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365970" y="812057"/>
            <a:ext cx="6501834" cy="33829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Technologies to be Used: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/>
              <a:t>Frontend:</a:t>
            </a:r>
            <a:r>
              <a:rPr lang="en-US" sz="1600" dirty="0"/>
              <a:t> React.js, HTML, CSS, Lottie Animations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Backend:</a:t>
            </a:r>
            <a:r>
              <a:rPr lang="en-US" sz="1600" dirty="0"/>
              <a:t> Node.js, Express.js, REST API, MongoDB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AI/ML:</a:t>
            </a:r>
            <a:r>
              <a:rPr lang="en-US" sz="1600" dirty="0"/>
              <a:t> </a:t>
            </a:r>
            <a:r>
              <a:rPr lang="en-US" sz="1600" dirty="0" err="1"/>
              <a:t>TensorFlow</a:t>
            </a:r>
            <a:r>
              <a:rPr lang="en-US" sz="1600" dirty="0"/>
              <a:t>, </a:t>
            </a:r>
            <a:r>
              <a:rPr lang="en-US" sz="1600" dirty="0" err="1"/>
              <a:t>scikit</a:t>
            </a:r>
            <a:r>
              <a:rPr lang="en-US" sz="1600" dirty="0"/>
              <a:t>-learn, </a:t>
            </a:r>
            <a:r>
              <a:rPr lang="en-US" sz="1600" dirty="0" err="1"/>
              <a:t>LangChain</a:t>
            </a:r>
            <a:r>
              <a:rPr lang="en-US" sz="1600" dirty="0"/>
              <a:t>, RAG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Speech &amp; Vision:</a:t>
            </a:r>
            <a:r>
              <a:rPr lang="en-US" sz="1600" dirty="0"/>
              <a:t> Google Speech API, </a:t>
            </a:r>
            <a:r>
              <a:rPr lang="en-US" sz="1600" dirty="0" err="1"/>
              <a:t>OpenCV</a:t>
            </a:r>
            <a:r>
              <a:rPr lang="en-US" sz="1600" dirty="0"/>
              <a:t>, Transformers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Authentication:</a:t>
            </a:r>
            <a:r>
              <a:rPr lang="en-US" sz="1600" dirty="0"/>
              <a:t> Firebase, JWT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Cloud and Deployment: </a:t>
            </a:r>
            <a:r>
              <a:rPr lang="en-US" sz="1600" dirty="0"/>
              <a:t>AWS S3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Others:</a:t>
            </a:r>
            <a:r>
              <a:rPr lang="en-US" sz="1600" dirty="0"/>
              <a:t> Docker, GitHub, Postman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6852" y="98834"/>
            <a:ext cx="152673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Return 0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85" y="4261926"/>
            <a:ext cx="2923213" cy="7907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04" y="5925104"/>
            <a:ext cx="688216" cy="7742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386" y="5937048"/>
            <a:ext cx="763453" cy="6713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020" y="5092676"/>
            <a:ext cx="593141" cy="7607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062" y="5136288"/>
            <a:ext cx="682938" cy="6556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4524" y="4387464"/>
            <a:ext cx="590477" cy="7035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2115" y="4364040"/>
            <a:ext cx="609462" cy="62074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9058" y="5136288"/>
            <a:ext cx="677151" cy="7542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386" y="5136288"/>
            <a:ext cx="742317" cy="71715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0187" y="6068530"/>
            <a:ext cx="730358" cy="53983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8691" y="4315082"/>
            <a:ext cx="810273" cy="73919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9074" y="5841235"/>
            <a:ext cx="989835" cy="8920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2073" y="5136288"/>
            <a:ext cx="638264" cy="60015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65663" y="5007426"/>
            <a:ext cx="839406" cy="78853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57823" y="5955826"/>
            <a:ext cx="625970" cy="68392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3840" y="5963083"/>
            <a:ext cx="775939" cy="72148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0" t="10707" r="7424" b="4131"/>
          <a:stretch/>
        </p:blipFill>
        <p:spPr>
          <a:xfrm>
            <a:off x="5104847" y="906168"/>
            <a:ext cx="7176654" cy="63869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300318" y="232658"/>
            <a:ext cx="5591364" cy="582434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8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E49140-2BA8-8CB1-9397-ED323D0C19CB}"/>
              </a:ext>
            </a:extLst>
          </p:cNvPr>
          <p:cNvSpPr txBox="1"/>
          <p:nvPr/>
        </p:nvSpPr>
        <p:spPr>
          <a:xfrm>
            <a:off x="358796" y="844184"/>
            <a:ext cx="5327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          Feasibility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Technical – Uses AI/ML with web app, easy to build.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Modularization – Growth meter, Gamification, </a:t>
            </a:r>
            <a:r>
              <a:rPr lang="en-US" sz="1400" dirty="0" err="1"/>
              <a:t>Saathi</a:t>
            </a:r>
            <a:r>
              <a:rPr lang="en-US" sz="14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Market – High demand in special education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Economic – Cost effective with open-source tools and cloud services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348B1-259D-36BD-1FA9-9B77395B5605}"/>
              </a:ext>
            </a:extLst>
          </p:cNvPr>
          <p:cNvSpPr txBox="1"/>
          <p:nvPr/>
        </p:nvSpPr>
        <p:spPr>
          <a:xfrm>
            <a:off x="358796" y="2023424"/>
            <a:ext cx="54788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          Viability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Can support children, teachers and parents together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Large user base – Useful for special schools and NGOs across India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Scalable – Start with pilot school then expand nationally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Long-term value – Continuous updates keep app engaging and relevant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13B07-3411-8EDD-6177-16D0D7A9D541}"/>
              </a:ext>
            </a:extLst>
          </p:cNvPr>
          <p:cNvSpPr txBox="1"/>
          <p:nvPr/>
        </p:nvSpPr>
        <p:spPr>
          <a:xfrm>
            <a:off x="358796" y="3269550"/>
            <a:ext cx="5327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          Challenges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AI accuracy in detecting Dyslexia/SLD/ADHD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Privacy and data security for children’s information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Adoption in rural/low tech regions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Trust and engagement from teachers and parents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36CA9D4-E415-D43E-6A61-3A42A194B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090" y="1124909"/>
            <a:ext cx="427956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  Use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Schools use AI Growth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Meter to track student learning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Parents monitor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progress and upload activity videos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Experts collaborate with teachers for better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Children engage with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Saathi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emotional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4D5640B-E760-0056-66DC-A2F011103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45" y="2500477"/>
            <a:ext cx="470295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  Business Potential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Subscription/licensing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for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school and NGOs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Partnerships with government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inclusive education programs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defTabSz="914400" eaLnBrk="0" hangingPunct="0">
              <a:buFontTx/>
              <a:buAutoNum type="arabicPeriod" startAt="3"/>
            </a:pPr>
            <a:r>
              <a:rPr lang="en-US" sz="1400" dirty="0"/>
              <a:t>Integration with therapy centers &amp; special educators</a:t>
            </a:r>
          </a:p>
          <a:p>
            <a:pPr lvl="0" defTabSz="914400" eaLnBrk="0" hangingPunct="0">
              <a:buFontTx/>
              <a:buAutoNum type="arabicPeriod" startAt="3"/>
            </a:pPr>
            <a:r>
              <a:rPr lang="en-US" sz="1400" dirty="0"/>
              <a:t>Data insights for policymakers &amp; research organizations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4CEC91-A462-0AEB-2383-E493CFD9F7D3}"/>
              </a:ext>
            </a:extLst>
          </p:cNvPr>
          <p:cNvSpPr txBox="1"/>
          <p:nvPr/>
        </p:nvSpPr>
        <p:spPr>
          <a:xfrm>
            <a:off x="352740" y="4448574"/>
            <a:ext cx="59753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+mj-lt"/>
                <a:cs typeface="Arial" panose="020B0604020202020204" pitchFamily="34" charset="0"/>
              </a:rPr>
              <a:t>          Solutions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Use strong encryption and follow data protection rules to keep child’s data safe.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Offline mode for low-connectivity regions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Parent-Teacher-Expert training for adoption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Keep a dedicated tech team for regular updates and improvements.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2A147F45-34AF-E537-FF7B-4D6F26E77F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6473" y="37343"/>
            <a:ext cx="1454727" cy="71055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0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4B1A8B-5968-EE47-B9B1-2DE2266B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1400" y="745842"/>
            <a:ext cx="379067" cy="379067"/>
          </a:xfrm>
          <a:prstGeom prst="rect">
            <a:avLst/>
          </a:prstGeom>
        </p:spPr>
      </p:pic>
      <p:pic>
        <p:nvPicPr>
          <p:cNvPr id="19" name="Picture 7" descr="Business, evaluate, evolution, idea, product, viability, viable icon ...">
            <a:extLst>
              <a:ext uri="{FF2B5EF4-FFF2-40B4-BE49-F238E27FC236}">
                <a16:creationId xmlns:a16="http://schemas.microsoft.com/office/drawing/2014/main" id="{3B0459AE-815B-0133-7EBF-4EF3B3167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99" y="1931749"/>
            <a:ext cx="379068" cy="37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9" descr="Challenge - free icon">
            <a:extLst>
              <a:ext uri="{FF2B5EF4-FFF2-40B4-BE49-F238E27FC236}">
                <a16:creationId xmlns:a16="http://schemas.microsoft.com/office/drawing/2014/main" id="{80D2AB9E-2567-3789-F41B-C4F1F94A9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00" y="3198762"/>
            <a:ext cx="379068" cy="37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Solution - Free marketing icons">
            <a:extLst>
              <a:ext uri="{FF2B5EF4-FFF2-40B4-BE49-F238E27FC236}">
                <a16:creationId xmlns:a16="http://schemas.microsoft.com/office/drawing/2014/main" id="{BDB1EEB4-4D8C-9D92-EA7B-47710104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73" y="4377875"/>
            <a:ext cx="395993" cy="395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3" descr="Use case - Free files and folders icons">
            <a:extLst>
              <a:ext uri="{FF2B5EF4-FFF2-40B4-BE49-F238E27FC236}">
                <a16:creationId xmlns:a16="http://schemas.microsoft.com/office/drawing/2014/main" id="{C7FD2896-6CAB-1CDA-5F1F-0D61A9FE0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888" y="1024431"/>
            <a:ext cx="401379" cy="40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5" descr="Business, chart, growth, hacking, human, potential icon - Download on ...">
            <a:extLst>
              <a:ext uri="{FF2B5EF4-FFF2-40B4-BE49-F238E27FC236}">
                <a16:creationId xmlns:a16="http://schemas.microsoft.com/office/drawing/2014/main" id="{A8A3CC36-CC48-7957-0C78-4D56E4473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22" y="2319599"/>
            <a:ext cx="364587" cy="36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418" t="-9372" r="7893" b="23318"/>
          <a:stretch/>
        </p:blipFill>
        <p:spPr>
          <a:xfrm>
            <a:off x="2324100" y="1843088"/>
            <a:ext cx="962025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1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393370" y="171079"/>
            <a:ext cx="5405260" cy="563048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E78680-9302-792F-6FAF-C8E63C422E84}"/>
              </a:ext>
            </a:extLst>
          </p:cNvPr>
          <p:cNvSpPr txBox="1"/>
          <p:nvPr/>
        </p:nvSpPr>
        <p:spPr>
          <a:xfrm>
            <a:off x="255515" y="4180344"/>
            <a:ext cx="584048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</a:rPr>
              <a:t>Potential Impact on the Target Audience</a:t>
            </a:r>
          </a:p>
          <a:p>
            <a:pPr lvl="0" defTabSz="914400" eaLnBrk="0" hangingPunct="0">
              <a:buFontTx/>
              <a:buChar char="•"/>
            </a:pPr>
            <a:r>
              <a:rPr lang="en-US" dirty="0"/>
              <a:t>Children with special needs – Better learning outcomes, more confidence</a:t>
            </a:r>
          </a:p>
          <a:p>
            <a:pPr lvl="0" defTabSz="914400" eaLnBrk="0" hangingPunct="0">
              <a:buFontTx/>
              <a:buChar char="•"/>
            </a:pPr>
            <a:r>
              <a:rPr lang="en-US" dirty="0"/>
              <a:t>Parents – Stronger engagement and awareness</a:t>
            </a:r>
          </a:p>
          <a:p>
            <a:pPr lvl="0" defTabSz="914400" eaLnBrk="0" hangingPunct="0">
              <a:buFontTx/>
              <a:buChar char="•"/>
            </a:pPr>
            <a:r>
              <a:rPr lang="en-US" dirty="0"/>
              <a:t>Teachers – Reduced workload, better support</a:t>
            </a:r>
          </a:p>
          <a:p>
            <a:pPr lvl="0" defTabSz="914400" eaLnBrk="0" hangingPunct="0">
              <a:buFontTx/>
              <a:buChar char="•"/>
            </a:pPr>
            <a:r>
              <a:rPr lang="en-US" dirty="0"/>
              <a:t>Schools &amp; NGOs – Scalable, affordable adoption</a:t>
            </a:r>
          </a:p>
          <a:p>
            <a:pPr lvl="0" defTabSz="914400" eaLnBrk="0" hangingPunct="0">
              <a:buFontTx/>
              <a:buChar char="•"/>
            </a:pPr>
            <a:r>
              <a:rPr lang="en-US" dirty="0"/>
              <a:t>Society – Inclusive education and reduced dropouts</a:t>
            </a:r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9037F-35FA-6D78-A166-75D8AD81BB26}"/>
              </a:ext>
            </a:extLst>
          </p:cNvPr>
          <p:cNvSpPr txBox="1"/>
          <p:nvPr/>
        </p:nvSpPr>
        <p:spPr>
          <a:xfrm>
            <a:off x="6299453" y="731686"/>
            <a:ext cx="609499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</a:rPr>
              <a:t>Benefits of the Solution</a:t>
            </a:r>
          </a:p>
          <a:p>
            <a:r>
              <a:rPr lang="en-US" sz="1600" b="1" dirty="0"/>
              <a:t>Social:</a:t>
            </a:r>
            <a:endParaRPr lang="en-US" sz="1600" dirty="0"/>
          </a:p>
          <a:p>
            <a:r>
              <a:rPr lang="en-US" sz="1600" dirty="0"/>
              <a:t>• Promotes inclusive education for children with special needs</a:t>
            </a:r>
            <a:br>
              <a:rPr lang="en-US" sz="1600" dirty="0"/>
            </a:br>
            <a:r>
              <a:rPr lang="en-US" sz="1600" dirty="0"/>
              <a:t>• Raises awareness among parents, teachers, and peers</a:t>
            </a:r>
            <a:br>
              <a:rPr lang="en-US" sz="1600" dirty="0"/>
            </a:br>
            <a:r>
              <a:rPr lang="en-US" sz="1600" dirty="0"/>
              <a:t>• Ensures equal opportunities in classrooms</a:t>
            </a:r>
          </a:p>
          <a:p>
            <a:r>
              <a:rPr lang="en-US" sz="1600" b="1" dirty="0"/>
              <a:t>Accessibility:</a:t>
            </a:r>
            <a:endParaRPr lang="en-US" sz="1600" dirty="0"/>
          </a:p>
          <a:p>
            <a:r>
              <a:rPr lang="en-US" sz="1600" dirty="0"/>
              <a:t>• Mobile-first, easy-to-use platform</a:t>
            </a:r>
          </a:p>
          <a:p>
            <a:r>
              <a:rPr lang="en-US" sz="1600" dirty="0"/>
              <a:t>• Works across devices with low data usage</a:t>
            </a:r>
            <a:br>
              <a:rPr lang="en-US" sz="1600" dirty="0"/>
            </a:br>
            <a:r>
              <a:rPr lang="en-US" sz="1600" dirty="0"/>
              <a:t>• Designed for multiple learning needs and disabilities</a:t>
            </a:r>
          </a:p>
          <a:p>
            <a:r>
              <a:rPr lang="en-US" sz="1600" b="1" dirty="0"/>
              <a:t>Educational:</a:t>
            </a:r>
            <a:endParaRPr lang="en-US" sz="1600" dirty="0"/>
          </a:p>
          <a:p>
            <a:r>
              <a:rPr lang="en-US" sz="1600" dirty="0"/>
              <a:t>• Improves learning outcomes for Dyslexia/ADHD/SLD students</a:t>
            </a:r>
            <a:br>
              <a:rPr lang="en-US" sz="1600" dirty="0"/>
            </a:br>
            <a:r>
              <a:rPr lang="en-US" sz="1600" dirty="0"/>
              <a:t>• Provides AI-driven insights and progress tracking for teachers</a:t>
            </a:r>
            <a:br>
              <a:rPr lang="en-US" sz="1600" dirty="0"/>
            </a:br>
            <a:r>
              <a:rPr lang="en-US" sz="1600" dirty="0"/>
              <a:t>• Strengthens collaboration among parents, teachers, and experts</a:t>
            </a:r>
          </a:p>
          <a:p>
            <a:r>
              <a:rPr lang="en-US" sz="1600" b="1" dirty="0"/>
              <a:t>Technological:</a:t>
            </a:r>
            <a:endParaRPr lang="en-US" sz="1600" dirty="0"/>
          </a:p>
          <a:p>
            <a:r>
              <a:rPr lang="en-US" sz="1600" dirty="0"/>
              <a:t>• Leverages AI/ML for personalized learning paths</a:t>
            </a:r>
            <a:br>
              <a:rPr lang="en-US" sz="1600" dirty="0"/>
            </a:br>
            <a:r>
              <a:rPr lang="en-US" sz="1600" dirty="0"/>
              <a:t>• Gamified features keep children motivated and engaged</a:t>
            </a:r>
            <a:br>
              <a:rPr lang="en-US" sz="1600" dirty="0"/>
            </a:br>
            <a:r>
              <a:rPr lang="en-US" sz="1600" dirty="0"/>
              <a:t>• Growth Meter tracks real-time progress effectively</a:t>
            </a:r>
          </a:p>
          <a:p>
            <a:r>
              <a:rPr lang="en-US" sz="1600" b="1" dirty="0"/>
              <a:t>Wellbeing:</a:t>
            </a:r>
            <a:endParaRPr lang="en-US" sz="1600" dirty="0"/>
          </a:p>
          <a:p>
            <a:r>
              <a:rPr lang="en-US" sz="1600" dirty="0"/>
              <a:t>• Emotional support through </a:t>
            </a:r>
            <a:r>
              <a:rPr lang="en-US" sz="1600" i="1" dirty="0" err="1"/>
              <a:t>Saathi</a:t>
            </a:r>
            <a:r>
              <a:rPr lang="en-US" sz="1600" dirty="0"/>
              <a:t> AI </a:t>
            </a:r>
            <a:r>
              <a:rPr lang="en-US" sz="1600" dirty="0" err="1"/>
              <a:t>ChatBot</a:t>
            </a:r>
            <a:br>
              <a:rPr lang="en-US" sz="1600" dirty="0"/>
            </a:br>
            <a:r>
              <a:rPr lang="en-US" sz="1600" dirty="0"/>
              <a:t>• Boosts confidence, reduces loneliness, builds resilience</a:t>
            </a:r>
            <a:br>
              <a:rPr lang="en-US" sz="1600" dirty="0"/>
            </a:br>
            <a:r>
              <a:rPr lang="en-US" sz="1600" dirty="0"/>
              <a:t>• Encourages socio-emotional and mental growth</a:t>
            </a:r>
            <a:endParaRPr lang="en-US" sz="1600" b="1" dirty="0">
              <a:solidFill>
                <a:srgbClr val="0070C0"/>
              </a:solidFill>
            </a:endParaRPr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400" u="sng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Oval 26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405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0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" t="17850" r="-2245" b="12563"/>
          <a:stretch/>
        </p:blipFill>
        <p:spPr>
          <a:xfrm>
            <a:off x="7362" y="1059580"/>
            <a:ext cx="648818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070204" y="-23138"/>
            <a:ext cx="6051592" cy="630374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F41BE5-9E01-6526-3CE8-86FDF3DDBB3B}"/>
              </a:ext>
            </a:extLst>
          </p:cNvPr>
          <p:cNvSpPr txBox="1"/>
          <p:nvPr/>
        </p:nvSpPr>
        <p:spPr>
          <a:xfrm>
            <a:off x="444810" y="925281"/>
            <a:ext cx="469767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Data Sources:</a:t>
            </a:r>
            <a:endParaRPr lang="en-US" sz="1600" dirty="0"/>
          </a:p>
          <a:p>
            <a:r>
              <a:rPr lang="en-US" sz="1400" dirty="0"/>
              <a:t>Ministry of Education – </a:t>
            </a:r>
            <a:r>
              <a:rPr lang="en-US" sz="1400" dirty="0">
                <a:hlinkClick r:id="rId4"/>
              </a:rPr>
              <a:t>https://www.education.gov.in/</a:t>
            </a:r>
            <a:endParaRPr lang="en-US" sz="1400" dirty="0"/>
          </a:p>
          <a:p>
            <a:r>
              <a:rPr lang="en-US" sz="1400" dirty="0"/>
              <a:t>Help4Special – </a:t>
            </a:r>
            <a:r>
              <a:rPr lang="en-US" sz="1400" dirty="0">
                <a:hlinkClick r:id="rId5"/>
              </a:rPr>
              <a:t>https://www.help4special.com/</a:t>
            </a:r>
            <a:endParaRPr lang="en-US" sz="1400" dirty="0"/>
          </a:p>
          <a:p>
            <a:r>
              <a:rPr lang="en-US" sz="1400" dirty="0" err="1"/>
              <a:t>CerAbility</a:t>
            </a:r>
            <a:r>
              <a:rPr lang="en-US" sz="1400" dirty="0"/>
              <a:t> – </a:t>
            </a:r>
            <a:r>
              <a:rPr lang="en-US" sz="1400" dirty="0">
                <a:hlinkClick r:id="rId6"/>
              </a:rPr>
              <a:t>https://www.cerability.com/</a:t>
            </a:r>
            <a:endParaRPr lang="en-US" sz="1400" dirty="0"/>
          </a:p>
          <a:p>
            <a:r>
              <a:rPr lang="en-US" sz="1400" dirty="0"/>
              <a:t>NIPPID (National Institute for the Empowerment of Persons with Intellectual Disabilities) – </a:t>
            </a:r>
            <a:r>
              <a:rPr lang="en-US" sz="1400" dirty="0">
                <a:hlinkClick r:id="rId7"/>
              </a:rPr>
              <a:t>https://niepid.nic.in/</a:t>
            </a:r>
            <a:endParaRPr lang="en-US" sz="1400" dirty="0"/>
          </a:p>
          <a:p>
            <a:r>
              <a:rPr lang="en-US" sz="1600" b="1" dirty="0"/>
              <a:t>Research &amp; Best Practices:</a:t>
            </a:r>
            <a:endParaRPr lang="en-US" sz="1600" dirty="0"/>
          </a:p>
          <a:p>
            <a:r>
              <a:rPr lang="en-US" sz="1400" dirty="0"/>
              <a:t>NEP 2020 – Focus on Inclusive &amp; Equitable Education</a:t>
            </a:r>
          </a:p>
          <a:p>
            <a:r>
              <a:rPr lang="en-US" sz="1400" dirty="0"/>
              <a:t>“</a:t>
            </a:r>
            <a:r>
              <a:rPr lang="en-US" sz="1400" i="1" dirty="0"/>
              <a:t>IJNRD2403021</a:t>
            </a:r>
            <a:r>
              <a:rPr lang="en-US" sz="1400" dirty="0"/>
              <a:t>” – Research paper on inclusive education / special needs — </a:t>
            </a:r>
            <a:r>
              <a:rPr lang="en-US" sz="1400" dirty="0">
                <a:hlinkClick r:id="rId8"/>
              </a:rPr>
              <a:t>https://www.ijnrd.org/papers/IJNRD2403021.pdf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D0BB9-B987-36A8-19C8-C76723DD79E1}"/>
              </a:ext>
            </a:extLst>
          </p:cNvPr>
          <p:cNvSpPr txBox="1"/>
          <p:nvPr/>
        </p:nvSpPr>
        <p:spPr>
          <a:xfrm>
            <a:off x="428312" y="562919"/>
            <a:ext cx="216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70C0"/>
                </a:solidFill>
              </a:rPr>
              <a:t>References: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52C22-C550-4273-91D0-25C3562699B3}"/>
              </a:ext>
            </a:extLst>
          </p:cNvPr>
          <p:cNvSpPr txBox="1"/>
          <p:nvPr/>
        </p:nvSpPr>
        <p:spPr>
          <a:xfrm>
            <a:off x="5231849" y="662221"/>
            <a:ext cx="6249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70C0"/>
                </a:solidFill>
              </a:rPr>
              <a:t> Comparison with Existing Systems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872247"/>
              </p:ext>
            </p:extLst>
          </p:nvPr>
        </p:nvGraphicFramePr>
        <p:xfrm>
          <a:off x="5370297" y="1178873"/>
          <a:ext cx="6987960" cy="5886947"/>
        </p:xfrm>
        <a:graphic>
          <a:graphicData uri="http://schemas.openxmlformats.org/drawingml/2006/table">
            <a:tbl>
              <a:tblPr/>
              <a:tblGrid>
                <a:gridCol w="1397592">
                  <a:extLst>
                    <a:ext uri="{9D8B030D-6E8A-4147-A177-3AD203B41FA5}">
                      <a16:colId xmlns:a16="http://schemas.microsoft.com/office/drawing/2014/main" val="2998709566"/>
                    </a:ext>
                  </a:extLst>
                </a:gridCol>
                <a:gridCol w="1397592">
                  <a:extLst>
                    <a:ext uri="{9D8B030D-6E8A-4147-A177-3AD203B41FA5}">
                      <a16:colId xmlns:a16="http://schemas.microsoft.com/office/drawing/2014/main" val="2714392776"/>
                    </a:ext>
                  </a:extLst>
                </a:gridCol>
                <a:gridCol w="1397592">
                  <a:extLst>
                    <a:ext uri="{9D8B030D-6E8A-4147-A177-3AD203B41FA5}">
                      <a16:colId xmlns:a16="http://schemas.microsoft.com/office/drawing/2014/main" val="51632449"/>
                    </a:ext>
                  </a:extLst>
                </a:gridCol>
                <a:gridCol w="1397592">
                  <a:extLst>
                    <a:ext uri="{9D8B030D-6E8A-4147-A177-3AD203B41FA5}">
                      <a16:colId xmlns:a16="http://schemas.microsoft.com/office/drawing/2014/main" val="1541196059"/>
                    </a:ext>
                  </a:extLst>
                </a:gridCol>
                <a:gridCol w="1397592">
                  <a:extLst>
                    <a:ext uri="{9D8B030D-6E8A-4147-A177-3AD203B41FA5}">
                      <a16:colId xmlns:a16="http://schemas.microsoft.com/office/drawing/2014/main" val="606157532"/>
                    </a:ext>
                  </a:extLst>
                </a:gridCol>
              </a:tblGrid>
              <a:tr h="443382">
                <a:tc>
                  <a:txBody>
                    <a:bodyPr/>
                    <a:lstStyle/>
                    <a:p>
                      <a:r>
                        <a:rPr lang="en-US" sz="1200" b="1"/>
                        <a:t>Feature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Our Solution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Google Classroom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Byju’s / EdTech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DIKSHA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150576"/>
                  </a:ext>
                </a:extLst>
              </a:tr>
              <a:tr h="498401">
                <a:tc>
                  <a:txBody>
                    <a:bodyPr/>
                    <a:lstStyle/>
                    <a:p>
                      <a:r>
                        <a:rPr lang="en-US" sz="1200"/>
                        <a:t>AI Growth 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822236"/>
                  </a:ext>
                </a:extLst>
              </a:tr>
              <a:tr h="95795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Saathi</a:t>
                      </a:r>
                      <a:r>
                        <a:rPr lang="en-US" sz="1200" dirty="0"/>
                        <a:t> (AI Buddy)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718267"/>
                  </a:ext>
                </a:extLst>
              </a:tr>
              <a:tr h="498401">
                <a:tc>
                  <a:txBody>
                    <a:bodyPr/>
                    <a:lstStyle/>
                    <a:p>
                      <a:r>
                        <a:rPr lang="en-US" sz="1200" dirty="0"/>
                        <a:t>Gamified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392321"/>
                  </a:ext>
                </a:extLst>
              </a:tr>
              <a:tr h="872201">
                <a:tc>
                  <a:txBody>
                    <a:bodyPr/>
                    <a:lstStyle/>
                    <a:p>
                      <a:r>
                        <a:rPr lang="en-US" sz="1200"/>
                        <a:t>Parent–Teacher–Expert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870659"/>
                  </a:ext>
                </a:extLst>
              </a:tr>
              <a:tr h="872201">
                <a:tc>
                  <a:txBody>
                    <a:bodyPr/>
                    <a:lstStyle/>
                    <a:p>
                      <a:r>
                        <a:rPr lang="en-US" sz="1200"/>
                        <a:t>Special Needs Personalization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233687"/>
                  </a:ext>
                </a:extLst>
              </a:tr>
              <a:tr h="872201">
                <a:tc>
                  <a:txBody>
                    <a:bodyPr/>
                    <a:lstStyle/>
                    <a:p>
                      <a:r>
                        <a:rPr lang="en-US" sz="1200"/>
                        <a:t>Multi-language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✅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701814"/>
                  </a:ext>
                </a:extLst>
              </a:tr>
              <a:tr h="872201">
                <a:tc>
                  <a:txBody>
                    <a:bodyPr/>
                    <a:lstStyle/>
                    <a:p>
                      <a:r>
                        <a:rPr lang="en-US" sz="1200"/>
                        <a:t>Inclusive Education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325154"/>
                  </a:ext>
                </a:extLst>
              </a:tr>
            </a:tbl>
          </a:graphicData>
        </a:graphic>
      </p:graphicFrame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5539" y="140356"/>
            <a:ext cx="1540591" cy="521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0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9" t="9768" r="-12475" b="10098"/>
          <a:stretch/>
        </p:blipFill>
        <p:spPr>
          <a:xfrm>
            <a:off x="216993" y="3048353"/>
            <a:ext cx="6474751" cy="40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5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8044</TotalTime>
  <Words>771</Words>
  <Application>Microsoft Office PowerPoint</Application>
  <PresentationFormat>Widescreen</PresentationFormat>
  <Paragraphs>143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NASA SPACE APPS CHALLENGE 2025</vt:lpstr>
      <vt:lpstr>NEBULAEXO</vt:lpstr>
      <vt:lpstr>TECHNICAL APPROACH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Piyush Naula</cp:lastModifiedBy>
  <cp:revision>182</cp:revision>
  <dcterms:created xsi:type="dcterms:W3CDTF">2013-12-12T18:46:50Z</dcterms:created>
  <dcterms:modified xsi:type="dcterms:W3CDTF">2025-10-05T10:50:39Z</dcterms:modified>
  <cp:category/>
</cp:coreProperties>
</file>